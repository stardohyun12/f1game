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0"/>
            <a:ext cx="10972800" cy="5486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2000" b="0">
                <a:solidFill>
                  <a:srgbClr val="A0A0A8"/>
                </a:solidFill>
                <a:latin typeface="Malgun Gothic"/>
              </a:rPr>
              <a:t>PIT CREW · 시스템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286000"/>
            <a:ext cx="10972800" cy="10972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7200" b="1">
                <a:solidFill>
                  <a:srgbClr val="F0F0F0"/>
                </a:solidFill>
                <a:latin typeface="Malgun Gothic"/>
              </a:rPr>
              <a:t>3D 포장 미니게임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0"/>
            <a:ext cx="10972800" cy="5486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2200" b="0">
                <a:solidFill>
                  <a:srgbClr val="E10600"/>
                </a:solidFill>
                <a:latin typeface="Malgun Gothic"/>
              </a:rPr>
              <a:t>마이크로 루프 USP — 한 잡의 깊이를 만드는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389120"/>
            <a:ext cx="1097280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500" b="0">
                <a:solidFill>
                  <a:srgbClr val="A0A0A8"/>
                </a:solidFill>
                <a:latin typeface="Malgun Gothic"/>
              </a:rPr>
              <a:t>기존 PackingDef 4단계 시스템 갈아치움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1097280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500" b="0">
                <a:solidFill>
                  <a:srgbClr val="A0A0A8"/>
                </a:solidFill>
                <a:latin typeface="Malgun Gothic"/>
              </a:rPr>
              <a:t>자유 랩핑 (마우스 경로 = 랩 띠) · 재료 3종 · 음식 랩 두르는 메타포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17920"/>
            <a:ext cx="109728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200" b="0">
                <a:solidFill>
                  <a:srgbClr val="A0A0A8"/>
                </a:solidFill>
                <a:latin typeface="Malgun Gothic"/>
              </a:rPr>
              <a:t>Decision D-070  ·  2026-05-13  ·  Vertical Slice 데모 (6/24)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37160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0972800" cy="6400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3200" b="1">
                <a:solidFill>
                  <a:srgbClr val="F0F0F0"/>
                </a:solidFill>
                <a:latin typeface="Malgun Gothic"/>
              </a:rPr>
              <a:t>왜 3D 포장?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109728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0">
                <a:solidFill>
                  <a:srgbClr val="A0A0A8"/>
                </a:solidFill>
                <a:latin typeface="Malgun Gothic"/>
              </a:rPr>
              <a:t>마이크로 루프 깊이 = 한 잡의 ‘결정 밀도’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155680" cy="9144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2400" b="0">
                <a:solidFill>
                  <a:srgbClr val="F0F0F0"/>
                </a:solidFill>
                <a:latin typeface="Malgun Gothic"/>
              </a:rPr>
              <a:t>“얼마짜리 재료를 어디까지 칠할 것인가” — 단 한 가지 결정이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1155680" cy="9144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2400" b="1">
                <a:solidFill>
                  <a:srgbClr val="E10600"/>
                </a:solidFill>
                <a:latin typeface="Malgun Gothic"/>
              </a:rPr>
              <a:t>비용 ↔ 보호도 ↔ 보상 트레이드오프를 손맛으로 만든다.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657600"/>
            <a:ext cx="5486400" cy="2468880"/>
          </a:xfrm>
          <a:prstGeom prst="roundRect">
            <a:avLst/>
          </a:prstGeom>
          <a:solidFill>
            <a:srgbClr val="33333A"/>
          </a:solidFill>
          <a:ln w="6350">
            <a:solidFill>
              <a:srgbClr val="A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94760"/>
            <a:ext cx="502920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1">
                <a:solidFill>
                  <a:srgbClr val="A0A0A8"/>
                </a:solidFill>
                <a:latin typeface="Malgun Gothic"/>
              </a:rPr>
              <a:t>기존 — PackingDef 4단계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06240"/>
            <a:ext cx="5029200" cy="18288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500" b="0">
                <a:solidFill>
                  <a:srgbClr val="F0F0F0"/>
                </a:solidFill>
                <a:latin typeface="Malgun Gothic"/>
              </a:rPr>
              <a:t>None / Bubble / Foam / Hardcase</a:t>
            </a:r>
          </a:p>
          <a:p>
            <a:pPr algn="l"/>
            <a:r>
              <a:rPr sz="1500" b="0">
                <a:solidFill>
                  <a:srgbClr val="F0F0F0"/>
                </a:solidFill>
                <a:latin typeface="Malgun Gothic"/>
              </a:rPr>
              <a:t>버튼 4개 중 1개 클릭 → 끝</a:t>
            </a:r>
          </a:p>
          <a:p>
            <a:pPr algn="l"/>
            <a:r>
              <a:rPr sz="1500" b="0">
                <a:solidFill>
                  <a:srgbClr val="F0F0F0"/>
                </a:solidFill>
                <a:latin typeface="Malgun Gothic"/>
              </a:rPr>
              <a:t>multiplier 곱셈 (1.0~2.0)</a:t>
            </a:r>
          </a:p>
          <a:p>
            <a:pPr algn="l"/>
            <a:r>
              <a:rPr sz="1500" b="0">
                <a:solidFill>
                  <a:srgbClr val="F0F0F0"/>
                </a:solidFill>
                <a:latin typeface="Malgun Gothic"/>
              </a:rPr>
              <a:t>결정 1초. 손맛 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3657600"/>
            <a:ext cx="5486400" cy="2468880"/>
          </a:xfrm>
          <a:prstGeom prst="roundRect">
            <a:avLst/>
          </a:prstGeom>
          <a:solidFill>
            <a:srgbClr val="E10600"/>
          </a:solidFill>
          <a:ln w="635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3794760"/>
            <a:ext cx="502920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</a:rPr>
              <a:t>신규 — 3D 자유 페인트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206240"/>
            <a:ext cx="5029200" cy="18288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algun Gothic"/>
              </a:rPr>
              <a:t>음식 랩 두르듯 — 마우스 경로 = 랩 띠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algun Gothic"/>
              </a:rPr>
              <a:t>WASD 회전 + 드래그로 띠 펼치기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algun Gothic"/>
              </a:rPr>
              <a:t>충격 방향 면의 wrap 상태로 손상 계산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algun Gothic"/>
              </a:rPr>
              <a:t>결정 30초~1분. 차분히 고민.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00800"/>
            <a:ext cx="73152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A0A0A8"/>
                </a:solidFill>
                <a:latin typeface="Malgun Gothic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00800"/>
            <a:ext cx="9144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400" b="0">
                <a:solidFill>
                  <a:srgbClr val="A0A0A8"/>
                </a:solidFill>
                <a:latin typeface="Malgun Gothic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37160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0972800" cy="6400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3200" b="1">
                <a:solidFill>
                  <a:srgbClr val="F0F0F0"/>
                </a:solidFill>
                <a:latin typeface="Malgun Gothic"/>
              </a:rPr>
              <a:t>Player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109728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0">
                <a:solidFill>
                  <a:srgbClr val="A0A0A8"/>
                </a:solidFill>
                <a:latin typeface="Malgun Gothic"/>
              </a:rPr>
              <a:t>포장은 잡 선택과 운전 사이에 들어감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194560"/>
            <a:ext cx="2663190" cy="1828800"/>
          </a:xfrm>
          <a:prstGeom prst="roundRect">
            <a:avLst/>
          </a:prstGeom>
          <a:solidFill>
            <a:srgbClr val="141418"/>
          </a:solidFill>
          <a:ln w="6350">
            <a:solidFill>
              <a:srgbClr val="A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01600" rIns="101600"/>
          <a:lstStyle/>
          <a:p>
            <a:pPr algn="ctr"/>
            <a:r>
              <a:rPr sz="1800" b="1">
                <a:solidFill>
                  <a:srgbClr val="F0F0F0"/>
                </a:solidFill>
                <a:latin typeface="Malgun Gothic"/>
              </a:rPr>
              <a:t>잡 보드</a:t>
            </a:r>
          </a:p>
          <a:p>
            <a:pPr algn="ctr"/>
            <a:r>
              <a:rPr sz="1100">
                <a:solidFill>
                  <a:srgbClr val="A0A0A8"/>
                </a:solidFill>
                <a:latin typeface="Malgun Gothic"/>
              </a:rPr>
              <a:t>~30초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F0F0F0"/>
                </a:solidFill>
                <a:latin typeface="Malgun Gothic"/>
              </a:rPr>
              <a:t>1택배=1목적지
물건 1~3개 선택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03270" y="2194560"/>
            <a:ext cx="2663190" cy="1828800"/>
          </a:xfrm>
          <a:prstGeom prst="roundRect">
            <a:avLst/>
          </a:prstGeom>
          <a:solidFill>
            <a:srgbClr val="33333A"/>
          </a:solidFill>
          <a:ln w="3175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01600" rIns="101600"/>
          <a:lstStyle/>
          <a:p>
            <a:pPr algn="ctr"/>
            <a:r>
              <a:rPr sz="1800" b="1">
                <a:solidFill>
                  <a:srgbClr val="E10600"/>
                </a:solidFill>
                <a:latin typeface="Malgun Gothic"/>
              </a:rPr>
              <a:t>3D 포장</a:t>
            </a:r>
          </a:p>
          <a:p>
            <a:pPr algn="ctr"/>
            <a:r>
              <a:rPr sz="1100">
                <a:solidFill>
                  <a:srgbClr val="A0A0A8"/>
                </a:solidFill>
                <a:latin typeface="Malgun Gothic"/>
              </a:rPr>
              <a:t>30초~2분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F0F0F0"/>
                </a:solidFill>
                <a:latin typeface="Malgun Gothic"/>
              </a:rPr>
              <a:t>← 본 문서
비용 ↔ 보호도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5060" y="2194560"/>
            <a:ext cx="2663190" cy="1828800"/>
          </a:xfrm>
          <a:prstGeom prst="roundRect">
            <a:avLst/>
          </a:prstGeom>
          <a:solidFill>
            <a:srgbClr val="141418"/>
          </a:solidFill>
          <a:ln w="6350">
            <a:solidFill>
              <a:srgbClr val="A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01600" rIns="101600"/>
          <a:lstStyle/>
          <a:p>
            <a:pPr algn="ctr"/>
            <a:r>
              <a:rPr sz="1800" b="1">
                <a:solidFill>
                  <a:srgbClr val="F0F0F0"/>
                </a:solidFill>
                <a:latin typeface="Malgun Gothic"/>
              </a:rPr>
              <a:t>운전·배송</a:t>
            </a:r>
          </a:p>
          <a:p>
            <a:pPr algn="ctr"/>
            <a:r>
              <a:rPr sz="1100">
                <a:solidFill>
                  <a:srgbClr val="A0A0A8"/>
                </a:solidFill>
                <a:latin typeface="Malgun Gothic"/>
              </a:rPr>
              <a:t>5~10분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F0F0F0"/>
                </a:solidFill>
                <a:latin typeface="Malgun Gothic"/>
              </a:rPr>
              <a:t>충격 누적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86850" y="2194560"/>
            <a:ext cx="2663190" cy="1828800"/>
          </a:xfrm>
          <a:prstGeom prst="roundRect">
            <a:avLst/>
          </a:prstGeom>
          <a:solidFill>
            <a:srgbClr val="141418"/>
          </a:solidFill>
          <a:ln w="6350">
            <a:solidFill>
              <a:srgbClr val="A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01600" rIns="101600"/>
          <a:lstStyle/>
          <a:p>
            <a:pPr algn="ctr"/>
            <a:r>
              <a:rPr sz="1800" b="1">
                <a:solidFill>
                  <a:srgbClr val="F0F0F0"/>
                </a:solidFill>
                <a:latin typeface="Malgun Gothic"/>
              </a:rPr>
              <a:t>정산</a:t>
            </a:r>
          </a:p>
          <a:p>
            <a:pPr algn="ctr"/>
            <a:r>
              <a:rPr sz="1100">
                <a:solidFill>
                  <a:srgbClr val="A0A0A8"/>
                </a:solidFill>
                <a:latin typeface="Malgun Gothic"/>
              </a:rPr>
              <a:t>30초</a:t>
            </a: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F0F0F0"/>
                </a:solidFill>
                <a:latin typeface="Malgun Gothic"/>
              </a:rPr>
              <a:t>손상↔보상
차감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74670" y="2926080"/>
            <a:ext cx="228600" cy="365760"/>
          </a:xfrm>
          <a:prstGeom prst="rightArrow">
            <a:avLst/>
          </a:prstGeom>
          <a:solidFill>
            <a:srgbClr val="A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5966460" y="2926080"/>
            <a:ext cx="228600" cy="365760"/>
          </a:xfrm>
          <a:prstGeom prst="rightArrow">
            <a:avLst/>
          </a:prstGeom>
          <a:solidFill>
            <a:srgbClr val="A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8858250" y="2926080"/>
            <a:ext cx="228600" cy="365760"/>
          </a:xfrm>
          <a:prstGeom prst="rightArrow">
            <a:avLst/>
          </a:prstGeom>
          <a:solidFill>
            <a:srgbClr val="A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754880"/>
            <a:ext cx="1115568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Malgun Gothic"/>
              </a:rPr>
              <a:t>→ 포장 결과는 운전 중 충격 시 손상 계산의 입력. 잘 포장하면 보상 ↑.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12080"/>
            <a:ext cx="1115568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Malgun Gothic"/>
              </a:rPr>
              <a:t>→ 잡당 물건 1~3개 결합 가능. 각 물건은 미니게임 안에서 탭 전환으로 따로 포장.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00800"/>
            <a:ext cx="73152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A0A0A8"/>
                </a:solidFill>
                <a:latin typeface="Malgun Gothic"/>
              </a:rPr>
              <a:t>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00800"/>
            <a:ext cx="9144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400" b="0">
                <a:solidFill>
                  <a:srgbClr val="A0A0A8"/>
                </a:solidFill>
                <a:latin typeface="Malgun Gothic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37160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0972800" cy="6400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3200" b="1">
                <a:solidFill>
                  <a:srgbClr val="F0F0F0"/>
                </a:solidFill>
                <a:latin typeface="Malgun Gothic"/>
              </a:rPr>
              <a:t>화면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109728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0">
                <a:solidFill>
                  <a:srgbClr val="A0A0A8"/>
                </a:solidFill>
                <a:latin typeface="Malgun Gothic"/>
              </a:rPr>
              <a:t>작업대 도제 — 가운데 화물, 좌측 재료 선반, 우측 비용·커버리지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1155680" cy="502920"/>
          </a:xfrm>
          <a:prstGeom prst="rect">
            <a:avLst/>
          </a:prstGeom>
          <a:solidFill>
            <a:srgbClr val="33333A"/>
          </a:solidFill>
          <a:ln w="6350">
            <a:solidFill>
              <a:srgbClr val="A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657600" cy="36576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Malgun Gothic"/>
              </a:rPr>
              <a:t>◀  물건  1 / 3  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0" y="1627632"/>
            <a:ext cx="1737360" cy="365760"/>
          </a:xfrm>
          <a:prstGeom prst="round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출발하기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2286000" cy="868680"/>
          </a:xfrm>
          <a:prstGeom prst="roundRect">
            <a:avLst/>
          </a:prstGeom>
          <a:solidFill>
            <a:srgbClr val="33333A"/>
          </a:solidFill>
          <a:ln w="6350">
            <a:solidFill>
              <a:srgbClr val="A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441448"/>
            <a:ext cx="502920" cy="502920"/>
          </a:xfrm>
          <a:prstGeom prst="ellipse">
            <a:avLst/>
          </a:prstGeom>
          <a:solidFill>
            <a:srgbClr val="6A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350008"/>
            <a:ext cx="146304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1">
                <a:solidFill>
                  <a:srgbClr val="F0F0F0"/>
                </a:solidFill>
                <a:latin typeface="Malgun Gothic"/>
              </a:rPr>
              <a:t>부블랩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679192"/>
            <a:ext cx="1463040" cy="3200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Malgun Gothic"/>
              </a:rPr>
              <a:t>₩50 / 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2350008"/>
            <a:ext cx="256032" cy="256032"/>
          </a:xfrm>
          <a:prstGeom prst="rect">
            <a:avLst/>
          </a:prstGeom>
          <a:solidFill>
            <a:srgbClr val="141418"/>
          </a:solidFill>
          <a:ln w="6350">
            <a:solidFill>
              <a:srgbClr val="A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1100" b="1">
                <a:solidFill>
                  <a:srgbClr val="F0F0F0"/>
                </a:solidFill>
                <a:latin typeface="Malgun Gothic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00400"/>
            <a:ext cx="2286000" cy="868680"/>
          </a:xfrm>
          <a:prstGeom prst="roundRect">
            <a:avLst/>
          </a:prstGeom>
          <a:solidFill>
            <a:srgbClr val="33333A"/>
          </a:solidFill>
          <a:ln w="6350">
            <a:solidFill>
              <a:srgbClr val="A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5800" y="3401568"/>
            <a:ext cx="502920" cy="502920"/>
          </a:xfrm>
          <a:prstGeom prst="ellipse">
            <a:avLst/>
          </a:prstGeom>
          <a:solidFill>
            <a:srgbClr val="E8D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310128"/>
            <a:ext cx="146304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1">
                <a:solidFill>
                  <a:srgbClr val="F0F0F0"/>
                </a:solidFill>
                <a:latin typeface="Malgun Gothic"/>
              </a:rPr>
              <a:t>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639312"/>
            <a:ext cx="1463040" cy="3200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Malgun Gothic"/>
              </a:rPr>
              <a:t>₩120 / 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3310128"/>
            <a:ext cx="256032" cy="256032"/>
          </a:xfrm>
          <a:prstGeom prst="rect">
            <a:avLst/>
          </a:prstGeom>
          <a:solidFill>
            <a:srgbClr val="141418"/>
          </a:solidFill>
          <a:ln w="6350">
            <a:solidFill>
              <a:srgbClr val="A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1100" b="1">
                <a:solidFill>
                  <a:srgbClr val="F0F0F0"/>
                </a:solidFill>
                <a:latin typeface="Malgun Gothic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60520"/>
            <a:ext cx="2286000" cy="868680"/>
          </a:xfrm>
          <a:prstGeom prst="roundRect">
            <a:avLst/>
          </a:prstGeom>
          <a:solidFill>
            <a:srgbClr val="33333A"/>
          </a:solidFill>
          <a:ln w="6350">
            <a:solidFill>
              <a:srgbClr val="A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4361688"/>
            <a:ext cx="502920" cy="502920"/>
          </a:xfrm>
          <a:prstGeom prst="ellipse">
            <a:avLst/>
          </a:prstGeom>
          <a:solidFill>
            <a:srgbClr val="555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4270248"/>
            <a:ext cx="146304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1">
                <a:solidFill>
                  <a:srgbClr val="F0F0F0"/>
                </a:solidFill>
                <a:latin typeface="Malgun Gothic"/>
              </a:rPr>
              <a:t>하드케이스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599432"/>
            <a:ext cx="1463040" cy="32004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100" b="0">
                <a:solidFill>
                  <a:srgbClr val="A0A0A8"/>
                </a:solidFill>
                <a:latin typeface="Malgun Gothic"/>
              </a:rPr>
              <a:t>₩300 / 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4270248"/>
            <a:ext cx="256032" cy="256032"/>
          </a:xfrm>
          <a:prstGeom prst="rect">
            <a:avLst/>
          </a:prstGeom>
          <a:solidFill>
            <a:srgbClr val="141418"/>
          </a:solidFill>
          <a:ln w="6350">
            <a:solidFill>
              <a:srgbClr val="A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1100" b="1">
                <a:solidFill>
                  <a:srgbClr val="F0F0F0"/>
                </a:solidFill>
                <a:latin typeface="Malgun Goth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12080"/>
            <a:ext cx="22860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300" b="0">
                <a:solidFill>
                  <a:srgbClr val="A0A0A8"/>
                </a:solidFill>
                <a:latin typeface="Malgun Gothic"/>
              </a:rPr>
              <a:t>랩 폭   ▬  ▬▬  ▬▬▬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32120"/>
            <a:ext cx="22860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000" b="0">
                <a:solidFill>
                  <a:srgbClr val="A0A0A8"/>
                </a:solidFill>
                <a:latin typeface="Malgun Gothic"/>
              </a:rPr>
              <a:t>마우스 휠로 조절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7520" y="2240280"/>
            <a:ext cx="5852160" cy="3931920"/>
          </a:xfrm>
          <a:prstGeom prst="roundRect">
            <a:avLst/>
          </a:prstGeom>
          <a:solidFill>
            <a:srgbClr val="141418"/>
          </a:solidFill>
          <a:ln w="6350">
            <a:solidFill>
              <a:srgbClr val="A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5120640"/>
            <a:ext cx="5486400" cy="137160"/>
          </a:xfrm>
          <a:prstGeom prst="rect">
            <a:avLst/>
          </a:prstGeom>
          <a:solidFill>
            <a:srgbClr val="333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54880" y="3291840"/>
            <a:ext cx="2377440" cy="1828800"/>
          </a:xfrm>
          <a:prstGeom prst="rect">
            <a:avLst/>
          </a:prstGeom>
          <a:solidFill>
            <a:srgbClr val="33333A"/>
          </a:solidFill>
          <a:ln w="190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54880" y="3657600"/>
            <a:ext cx="2377440" cy="411480"/>
          </a:xfrm>
          <a:prstGeom prst="rect">
            <a:avLst/>
          </a:prstGeom>
          <a:solidFill>
            <a:srgbClr val="6A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4880" y="4434840"/>
            <a:ext cx="2377440" cy="320040"/>
          </a:xfrm>
          <a:prstGeom prst="rect">
            <a:avLst/>
          </a:prstGeom>
          <a:solidFill>
            <a:srgbClr val="555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arallelogram 29"/>
          <p:cNvSpPr/>
          <p:nvPr/>
        </p:nvSpPr>
        <p:spPr>
          <a:xfrm>
            <a:off x="4937760" y="2926080"/>
            <a:ext cx="2377440" cy="457200"/>
          </a:xfrm>
          <a:prstGeom prst="parallelogram">
            <a:avLst/>
          </a:prstGeom>
          <a:solidFill>
            <a:srgbClr val="33333A"/>
          </a:solidFill>
          <a:ln w="190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Triangle 30"/>
          <p:cNvSpPr/>
          <p:nvPr/>
        </p:nvSpPr>
        <p:spPr>
          <a:xfrm>
            <a:off x="7132320" y="3108960"/>
            <a:ext cx="365760" cy="2011680"/>
          </a:xfrm>
          <a:prstGeom prst="rtTriangle">
            <a:avLst/>
          </a:prstGeom>
          <a:solidFill>
            <a:srgbClr val="33333A"/>
          </a:solidFill>
          <a:ln w="190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6263640"/>
            <a:ext cx="566928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A0A0A8"/>
                </a:solidFill>
                <a:latin typeface="Malgun Gothic"/>
              </a:rPr>
              <a:t>WASD = 회전     좌클릭 누름 + 드래그 = 랩 띠 펼치기 (떼면 한 띠 끝)     R = 리셋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560" y="2240280"/>
            <a:ext cx="2697480" cy="3931920"/>
          </a:xfrm>
          <a:prstGeom prst="roundRect">
            <a:avLst/>
          </a:prstGeom>
          <a:solidFill>
            <a:srgbClr val="33333A"/>
          </a:solidFill>
          <a:ln w="6350">
            <a:solidFill>
              <a:srgbClr val="A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2377440"/>
            <a:ext cx="237744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300" b="1">
                <a:solidFill>
                  <a:srgbClr val="E10600"/>
                </a:solidFill>
                <a:latin typeface="Malgun Gothic"/>
              </a:rPr>
              <a:t>비용</a:t>
            </a:r>
          </a:p>
        </p:txBody>
      </p:sp>
      <p:sp>
        <p:nvSpPr>
          <p:cNvPr id="35" name="Oval 34"/>
          <p:cNvSpPr/>
          <p:nvPr/>
        </p:nvSpPr>
        <p:spPr>
          <a:xfrm>
            <a:off x="9235440" y="2743200"/>
            <a:ext cx="164592" cy="164592"/>
          </a:xfrm>
          <a:prstGeom prst="ellipse">
            <a:avLst/>
          </a:prstGeom>
          <a:solidFill>
            <a:srgbClr val="6A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64040" y="2706624"/>
            <a:ext cx="128016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200" b="0">
                <a:solidFill>
                  <a:srgbClr val="F0F0F0"/>
                </a:solidFill>
                <a:latin typeface="Malgun Gothic"/>
              </a:rPr>
              <a:t>부블랩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2706624"/>
            <a:ext cx="82296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200" b="0">
                <a:solidFill>
                  <a:srgbClr val="F0F0F0"/>
                </a:solidFill>
                <a:latin typeface="Malgun Gothic"/>
              </a:rPr>
              <a:t>₩200</a:t>
            </a:r>
          </a:p>
        </p:txBody>
      </p:sp>
      <p:sp>
        <p:nvSpPr>
          <p:cNvPr id="38" name="Oval 37"/>
          <p:cNvSpPr/>
          <p:nvPr/>
        </p:nvSpPr>
        <p:spPr>
          <a:xfrm>
            <a:off x="9235440" y="3063240"/>
            <a:ext cx="164592" cy="164592"/>
          </a:xfrm>
          <a:prstGeom prst="ellipse">
            <a:avLst/>
          </a:prstGeom>
          <a:solidFill>
            <a:srgbClr val="E8D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4040" y="3026664"/>
            <a:ext cx="128016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200" b="0">
                <a:solidFill>
                  <a:srgbClr val="F0F0F0"/>
                </a:solidFill>
                <a:latin typeface="Malgun Gothic"/>
              </a:rPr>
              <a:t>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3026664"/>
            <a:ext cx="82296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200" b="0">
                <a:solidFill>
                  <a:srgbClr val="F0F0F0"/>
                </a:solidFill>
                <a:latin typeface="Malgun Gothic"/>
              </a:rPr>
              <a:t>₩0</a:t>
            </a:r>
          </a:p>
        </p:txBody>
      </p:sp>
      <p:sp>
        <p:nvSpPr>
          <p:cNvPr id="41" name="Oval 40"/>
          <p:cNvSpPr/>
          <p:nvPr/>
        </p:nvSpPr>
        <p:spPr>
          <a:xfrm>
            <a:off x="9235440" y="3383280"/>
            <a:ext cx="164592" cy="164592"/>
          </a:xfrm>
          <a:prstGeom prst="ellipse">
            <a:avLst/>
          </a:prstGeom>
          <a:solidFill>
            <a:srgbClr val="555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64040" y="3346704"/>
            <a:ext cx="128016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200" b="0">
                <a:solidFill>
                  <a:srgbClr val="F0F0F0"/>
                </a:solidFill>
                <a:latin typeface="Malgun Gothic"/>
              </a:rPr>
              <a:t>하드케이스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0" y="3346704"/>
            <a:ext cx="82296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200" b="0">
                <a:solidFill>
                  <a:srgbClr val="F0F0F0"/>
                </a:solidFill>
                <a:latin typeface="Malgun Gothic"/>
              </a:rPr>
              <a:t>₩600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35440" y="3840480"/>
            <a:ext cx="2331720" cy="8000"/>
          </a:xfrm>
          <a:prstGeom prst="rect">
            <a:avLst/>
          </a:prstGeom>
          <a:solidFill>
            <a:srgbClr val="A0A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0" y="3931920"/>
            <a:ext cx="13716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300" b="1">
                <a:solidFill>
                  <a:srgbClr val="F0F0F0"/>
                </a:solidFill>
                <a:latin typeface="Malgun Gothic"/>
              </a:rPr>
              <a:t>합계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89920" y="3931920"/>
            <a:ext cx="82296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400" b="1">
                <a:solidFill>
                  <a:srgbClr val="E10600"/>
                </a:solidFill>
                <a:latin typeface="Malgun Gothic"/>
              </a:rPr>
              <a:t>₩800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4480560"/>
            <a:ext cx="237744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300" b="1">
                <a:solidFill>
                  <a:srgbClr val="E10600"/>
                </a:solidFill>
                <a:latin typeface="Malgun Gothic"/>
              </a:rPr>
              <a:t>평균 커버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35440" y="4846320"/>
            <a:ext cx="2331720" cy="274320"/>
          </a:xfrm>
          <a:prstGeom prst="rect">
            <a:avLst/>
          </a:prstGeom>
          <a:solidFill>
            <a:srgbClr val="14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235440" y="4846320"/>
            <a:ext cx="1562252" cy="2743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35440" y="5212080"/>
            <a:ext cx="237744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2000" b="1">
                <a:solidFill>
                  <a:srgbClr val="F0F0F0"/>
                </a:solidFill>
                <a:latin typeface="Malgun Gothic"/>
              </a:rPr>
              <a:t>67%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5577840"/>
            <a:ext cx="237744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900" b="0">
                <a:solidFill>
                  <a:srgbClr val="A0A0A8"/>
                </a:solidFill>
                <a:latin typeface="Malgun Gothic"/>
              </a:rPr>
              <a:t>( 충격 위치별로 실제 흡수율은 변동 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" y="6400800"/>
            <a:ext cx="73152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A0A0A8"/>
                </a:solidFill>
                <a:latin typeface="Malgun Gothic"/>
              </a:rPr>
              <a:t>Screen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338560" y="6400800"/>
            <a:ext cx="9144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400" b="0">
                <a:solidFill>
                  <a:srgbClr val="A0A0A8"/>
                </a:solidFill>
                <a:latin typeface="Malgun Gothic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37160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0972800" cy="6400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3200" b="1">
                <a:solidFill>
                  <a:srgbClr val="F0F0F0"/>
                </a:solidFill>
                <a:latin typeface="Malgun Gothic"/>
              </a:rPr>
              <a:t>입력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109728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0">
                <a:solidFill>
                  <a:srgbClr val="A0A0A8"/>
                </a:solidFill>
                <a:latin typeface="Malgun Gothic"/>
              </a:rPr>
              <a:t>음식 랩 두르는 메타포 · 시간 압박 없음 — calm crafting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926080" cy="502920"/>
          </a:xfrm>
          <a:prstGeom prst="roundRect">
            <a:avLst/>
          </a:prstGeom>
          <a:solidFill>
            <a:srgbClr val="33333A"/>
          </a:solidFill>
          <a:ln w="1905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0F0F0"/>
                </a:solidFill>
                <a:latin typeface="Malgun Gothic"/>
              </a:rPr>
              <a:t>WASD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1645920"/>
            <a:ext cx="8046720" cy="50292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500" b="0">
                <a:solidFill>
                  <a:srgbClr val="F0F0F0"/>
                </a:solidFill>
                <a:latin typeface="Malgun Gothic"/>
              </a:rPr>
              <a:t>3D 화물 회전 (yaw / pitch)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67712"/>
            <a:ext cx="2926080" cy="502920"/>
          </a:xfrm>
          <a:prstGeom prst="roundRect">
            <a:avLst/>
          </a:prstGeom>
          <a:solidFill>
            <a:srgbClr val="33333A"/>
          </a:solidFill>
          <a:ln w="1905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0F0F0"/>
                </a:solidFill>
                <a:latin typeface="Malgun Gothic"/>
              </a:rPr>
              <a:t>좌클릭 누름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2267712"/>
            <a:ext cx="8046720" cy="50292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500" b="0">
                <a:solidFill>
                  <a:srgbClr val="F0F0F0"/>
                </a:solidFill>
                <a:latin typeface="Malgun Gothic"/>
              </a:rPr>
              <a:t>랩 띠 시작점 고정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89504"/>
            <a:ext cx="2926080" cy="502920"/>
          </a:xfrm>
          <a:prstGeom prst="roundRect">
            <a:avLst/>
          </a:prstGeom>
          <a:solidFill>
            <a:srgbClr val="33333A"/>
          </a:solidFill>
          <a:ln w="1905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0F0F0"/>
                </a:solidFill>
                <a:latin typeface="Malgun Gothic"/>
              </a:rPr>
              <a:t>누른 채 드래그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889504"/>
            <a:ext cx="8046720" cy="50292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500" b="0">
                <a:solidFill>
                  <a:srgbClr val="F0F0F0"/>
                </a:solidFill>
                <a:latin typeface="Malgun Gothic"/>
              </a:rPr>
              <a:t>경로 따라 일정 폭의 띠가 표면에 펼쳐짐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11296"/>
            <a:ext cx="2926080" cy="502920"/>
          </a:xfrm>
          <a:prstGeom prst="roundRect">
            <a:avLst/>
          </a:prstGeom>
          <a:solidFill>
            <a:srgbClr val="33333A"/>
          </a:solidFill>
          <a:ln w="1905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0F0F0"/>
                </a:solidFill>
                <a:latin typeface="Malgun Gothic"/>
              </a:rPr>
              <a:t>떼기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511296"/>
            <a:ext cx="8046720" cy="50292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500" b="0">
                <a:solidFill>
                  <a:srgbClr val="F0F0F0"/>
                </a:solidFill>
                <a:latin typeface="Malgun Gothic"/>
              </a:rPr>
              <a:t>한 띠 종료 → 다음 누름은 새 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33088"/>
            <a:ext cx="2926080" cy="502920"/>
          </a:xfrm>
          <a:prstGeom prst="roundRect">
            <a:avLst/>
          </a:prstGeom>
          <a:solidFill>
            <a:srgbClr val="33333A"/>
          </a:solidFill>
          <a:ln w="1905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0F0F0"/>
                </a:solidFill>
                <a:latin typeface="Malgun Gothic"/>
              </a:rPr>
              <a:t>1 / 2 /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4133088"/>
            <a:ext cx="8046720" cy="50292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500" b="0">
                <a:solidFill>
                  <a:srgbClr val="F0F0F0"/>
                </a:solidFill>
                <a:latin typeface="Malgun Gothic"/>
              </a:rPr>
              <a:t>재료 전환 (부블랩 / 폼 / 하드케이스)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2926080" cy="502920"/>
          </a:xfrm>
          <a:prstGeom prst="roundRect">
            <a:avLst/>
          </a:prstGeom>
          <a:solidFill>
            <a:srgbClr val="33333A"/>
          </a:solidFill>
          <a:ln w="1905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0F0F0"/>
                </a:solidFill>
                <a:latin typeface="Malgun Gothic"/>
              </a:rPr>
              <a:t>마우스 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4754880"/>
            <a:ext cx="8046720" cy="50292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500" b="0">
                <a:solidFill>
                  <a:srgbClr val="F0F0F0"/>
                </a:solidFill>
                <a:latin typeface="Malgun Gothic"/>
              </a:rPr>
              <a:t>랩 폭 (띠의 굵기)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76672"/>
            <a:ext cx="2926080" cy="502920"/>
          </a:xfrm>
          <a:prstGeom prst="roundRect">
            <a:avLst/>
          </a:prstGeom>
          <a:solidFill>
            <a:srgbClr val="33333A"/>
          </a:solidFill>
          <a:ln w="1905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0F0F0"/>
                </a:solidFill>
                <a:latin typeface="Malgun Gothic"/>
              </a:rP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5376672"/>
            <a:ext cx="8046720" cy="502920"/>
          </a:xfrm>
          <a:prstGeom prst="rect">
            <a:avLst/>
          </a:prstGeom>
          <a:noFill/>
        </p:spPr>
        <p:txBody>
          <a:bodyPr wrap="square" anchor="ctr" tIns="0" bIns="0" lIns="0" rIns="0">
            <a:spAutoFit/>
          </a:bodyPr>
          <a:lstStyle/>
          <a:p>
            <a:pPr algn="l"/>
            <a:r>
              <a:rPr sz="1500" b="0">
                <a:solidFill>
                  <a:srgbClr val="F0F0F0"/>
                </a:solidFill>
                <a:latin typeface="Malgun Gothic"/>
              </a:rPr>
              <a:t>회전 리셋 (편의)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00800"/>
            <a:ext cx="73152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A0A0A8"/>
                </a:solidFill>
                <a:latin typeface="Malgun Gothic"/>
              </a:rPr>
              <a:t>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00800"/>
            <a:ext cx="9144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400" b="0">
                <a:solidFill>
                  <a:srgbClr val="A0A0A8"/>
                </a:solidFill>
                <a:latin typeface="Malgun Gothic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37160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0972800" cy="6400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3200" b="1">
                <a:solidFill>
                  <a:srgbClr val="F0F0F0"/>
                </a:solidFill>
                <a:latin typeface="Malgun Gothic"/>
              </a:rPr>
              <a:t>재료 3종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109728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0">
                <a:solidFill>
                  <a:srgbClr val="A0A0A8"/>
                </a:solidFill>
                <a:latin typeface="Malgun Gothic"/>
              </a:rPr>
              <a:t>가격 ∝ 보호도 — 단순·직관 트레이드오프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8007" y="1828800"/>
            <a:ext cx="3566160" cy="4297680"/>
          </a:xfrm>
          <a:prstGeom prst="roundRect">
            <a:avLst/>
          </a:prstGeom>
          <a:solidFill>
            <a:srgbClr val="33333A"/>
          </a:solidFill>
          <a:ln w="6350">
            <a:solidFill>
              <a:srgbClr val="A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06727" y="2103120"/>
            <a:ext cx="1188720" cy="1188720"/>
          </a:xfrm>
          <a:prstGeom prst="ellipse">
            <a:avLst/>
          </a:prstGeom>
          <a:solidFill>
            <a:srgbClr val="6A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8007" y="3474720"/>
            <a:ext cx="356616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2400" b="1">
                <a:solidFill>
                  <a:srgbClr val="F0F0F0"/>
                </a:solidFill>
                <a:latin typeface="Malgun Gothic"/>
              </a:rPr>
              <a:t>부블랩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007" y="3977640"/>
            <a:ext cx="356616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1400" b="0">
                <a:solidFill>
                  <a:srgbClr val="A0A0A8"/>
                </a:solidFill>
                <a:latin typeface="Malgun Gothic"/>
              </a:rPr>
              <a:t>싸 · 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007" y="4572000"/>
            <a:ext cx="356616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1800" b="1">
                <a:solidFill>
                  <a:srgbClr val="E10600"/>
                </a:solidFill>
                <a:latin typeface="Malgun Gothic"/>
              </a:rPr>
              <a:t>₩50 / 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007" y="5029200"/>
            <a:ext cx="356616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1500" b="0">
                <a:solidFill>
                  <a:srgbClr val="F0F0F0"/>
                </a:solidFill>
                <a:latin typeface="Malgun Gothic"/>
              </a:rPr>
              <a:t>흡수율 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007" y="5532120"/>
            <a:ext cx="356616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A0A0A8"/>
                </a:solidFill>
                <a:latin typeface="Malgun Gothic"/>
              </a:rPr>
              <a:t>옅은 파랑
반투명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2767" y="1828800"/>
            <a:ext cx="3566160" cy="4297680"/>
          </a:xfrm>
          <a:prstGeom prst="roundRect">
            <a:avLst/>
          </a:prstGeom>
          <a:solidFill>
            <a:srgbClr val="33333A"/>
          </a:solidFill>
          <a:ln w="6350">
            <a:solidFill>
              <a:srgbClr val="A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01487" y="2103120"/>
            <a:ext cx="1188720" cy="1188720"/>
          </a:xfrm>
          <a:prstGeom prst="ellipse">
            <a:avLst/>
          </a:prstGeom>
          <a:solidFill>
            <a:srgbClr val="E8D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2767" y="3474720"/>
            <a:ext cx="356616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2400" b="1">
                <a:solidFill>
                  <a:srgbClr val="F0F0F0"/>
                </a:solidFill>
                <a:latin typeface="Malgun Gothic"/>
              </a:rPr>
              <a:t>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2767" y="3977640"/>
            <a:ext cx="356616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1400" b="0">
                <a:solidFill>
                  <a:srgbClr val="A0A0A8"/>
                </a:solidFill>
                <a:latin typeface="Malgun Gothic"/>
              </a:rPr>
              <a:t>중 · 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2767" y="4572000"/>
            <a:ext cx="356616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1800" b="1">
                <a:solidFill>
                  <a:srgbClr val="E10600"/>
                </a:solidFill>
                <a:latin typeface="Malgun Gothic"/>
              </a:rPr>
              <a:t>₩120 / 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2767" y="5029200"/>
            <a:ext cx="356616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1500" b="0">
                <a:solidFill>
                  <a:srgbClr val="F0F0F0"/>
                </a:solidFill>
                <a:latin typeface="Malgun Gothic"/>
              </a:rPr>
              <a:t>흡수율 55%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2767" y="5532120"/>
            <a:ext cx="356616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A0A0A8"/>
                </a:solidFill>
                <a:latin typeface="Malgun Gothic"/>
              </a:rPr>
              <a:t>노란
불투명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7527" y="1828800"/>
            <a:ext cx="3566160" cy="4297680"/>
          </a:xfrm>
          <a:prstGeom prst="roundRect">
            <a:avLst/>
          </a:prstGeom>
          <a:solidFill>
            <a:srgbClr val="33333A"/>
          </a:solidFill>
          <a:ln w="6350">
            <a:solidFill>
              <a:srgbClr val="A0A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96247" y="2103120"/>
            <a:ext cx="1188720" cy="1188720"/>
          </a:xfrm>
          <a:prstGeom prst="ellipse">
            <a:avLst/>
          </a:prstGeom>
          <a:solidFill>
            <a:srgbClr val="555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07527" y="3474720"/>
            <a:ext cx="356616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2400" b="1">
                <a:solidFill>
                  <a:srgbClr val="F0F0F0"/>
                </a:solidFill>
                <a:latin typeface="Malgun Gothic"/>
              </a:rPr>
              <a:t>하드케이스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7527" y="3977640"/>
            <a:ext cx="356616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1400" b="0">
                <a:solidFill>
                  <a:srgbClr val="A0A0A8"/>
                </a:solidFill>
                <a:latin typeface="Malgun Gothic"/>
              </a:rPr>
              <a:t>비싸 · 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7527" y="4572000"/>
            <a:ext cx="356616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1800" b="1">
                <a:solidFill>
                  <a:srgbClr val="E10600"/>
                </a:solidFill>
                <a:latin typeface="Malgun Gothic"/>
              </a:rPr>
              <a:t>₩300 / 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7527" y="5029200"/>
            <a:ext cx="356616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1500" b="0">
                <a:solidFill>
                  <a:srgbClr val="F0F0F0"/>
                </a:solidFill>
                <a:latin typeface="Malgun Gothic"/>
              </a:rPr>
              <a:t>흡수율 85%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07527" y="5532120"/>
            <a:ext cx="356616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1100" b="0">
                <a:solidFill>
                  <a:srgbClr val="A0A0A8"/>
                </a:solidFill>
                <a:latin typeface="Malgun Gothic"/>
              </a:rPr>
              <a:t>진회색
불투명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309360"/>
            <a:ext cx="1115568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ctr"/>
            <a:r>
              <a:rPr sz="1300" b="0">
                <a:solidFill>
                  <a:srgbClr val="A0A0A8"/>
                </a:solidFill>
                <a:latin typeface="Malgun Gothic"/>
              </a:rPr>
              <a:t>덧칠 가능 · 최상위 재료만 보호도 적용 · 아래 레이어 비용은 이미 지불 (낭비 가능성)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00800"/>
            <a:ext cx="73152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A0A0A8"/>
                </a:solidFill>
                <a:latin typeface="Malgun Gothic"/>
              </a:rPr>
              <a:t>Materials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00800"/>
            <a:ext cx="9144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400" b="0">
                <a:solidFill>
                  <a:srgbClr val="A0A0A8"/>
                </a:solidFill>
                <a:latin typeface="Malgun Gothic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37160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0972800" cy="6400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3200" b="1">
                <a:solidFill>
                  <a:srgbClr val="F0F0F0"/>
                </a:solidFill>
                <a:latin typeface="Malgun Gothic"/>
              </a:rPr>
              <a:t>충격 → 손상 매핑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109728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0">
                <a:solidFill>
                  <a:srgbClr val="A0A0A8"/>
                </a:solidFill>
                <a:latin typeface="Malgun Gothic"/>
              </a:rPr>
              <a:t>기존 CargoBox 손상 인과(D-068)와 통합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1798320" cy="1463040"/>
          </a:xfrm>
          <a:prstGeom prst="roundRect">
            <a:avLst/>
          </a:prstGeom>
          <a:solidFill>
            <a:srgbClr val="33333A"/>
          </a:solidFill>
          <a:ln w="1270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50800" rIns="50800"/>
          <a:lstStyle/>
          <a:p>
            <a:pPr algn="ctr"/>
            <a:r>
              <a:rPr sz="2000" b="1">
                <a:solidFill>
                  <a:srgbClr val="E10600"/>
                </a:solidFill>
                <a:latin typeface="Malgun Gothic"/>
              </a:rPr>
              <a:t>1</a:t>
            </a:r>
          </a:p>
          <a:p>
            <a:pPr algn="ctr"/>
            <a:r>
              <a:rPr sz="1100" b="1">
                <a:solidFill>
                  <a:srgbClr val="F0F0F0"/>
                </a:solidFill>
                <a:latin typeface="Malgun Gothic"/>
              </a:rPr>
              <a:t>차 G</a:t>
            </a:r>
          </a:p>
          <a:p>
            <a:pPr algn="ctr"/>
            <a:r>
              <a:rPr sz="900">
                <a:solidFill>
                  <a:srgbClr val="A0A0A8"/>
                </a:solidFill>
                <a:latin typeface="Malgun Gothic"/>
              </a:rPr>
              <a:t>급가속/급제동/코너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19528" y="1828800"/>
            <a:ext cx="1798320" cy="1463040"/>
          </a:xfrm>
          <a:prstGeom prst="roundRect">
            <a:avLst/>
          </a:prstGeom>
          <a:solidFill>
            <a:srgbClr val="33333A"/>
          </a:solidFill>
          <a:ln w="1270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50800" rIns="50800"/>
          <a:lstStyle/>
          <a:p>
            <a:pPr algn="ctr"/>
            <a:r>
              <a:rPr sz="2000" b="1">
                <a:solidFill>
                  <a:srgbClr val="E10600"/>
                </a:solidFill>
                <a:latin typeface="Malgun Gothic"/>
              </a:rPr>
              <a:t>2</a:t>
            </a:r>
          </a:p>
          <a:p>
            <a:pPr algn="ctr"/>
            <a:r>
              <a:rPr sz="1100" b="1">
                <a:solidFill>
                  <a:srgbClr val="F0F0F0"/>
                </a:solidFill>
                <a:latin typeface="Malgun Gothic"/>
              </a:rPr>
              <a:t>박스 슬라이드</a:t>
            </a:r>
          </a:p>
          <a:p>
            <a:pPr algn="ctr"/>
            <a:r>
              <a:rPr sz="900">
                <a:solidFill>
                  <a:srgbClr val="A0A0A8"/>
                </a:solidFill>
                <a:latin typeface="Malgun Gothic"/>
              </a:rPr>
              <a:t>트렁크 안에서 이동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27576" y="1828800"/>
            <a:ext cx="1798320" cy="1463040"/>
          </a:xfrm>
          <a:prstGeom prst="roundRect">
            <a:avLst/>
          </a:prstGeom>
          <a:solidFill>
            <a:srgbClr val="33333A"/>
          </a:solidFill>
          <a:ln w="1270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50800" rIns="50800"/>
          <a:lstStyle/>
          <a:p>
            <a:pPr algn="ctr"/>
            <a:r>
              <a:rPr sz="2000" b="1">
                <a:solidFill>
                  <a:srgbClr val="E10600"/>
                </a:solidFill>
                <a:latin typeface="Malgun Gothic"/>
              </a:rPr>
              <a:t>3</a:t>
            </a:r>
          </a:p>
          <a:p>
            <a:pPr algn="ctr"/>
            <a:r>
              <a:rPr sz="1100" b="1">
                <a:solidFill>
                  <a:srgbClr val="F0F0F0"/>
                </a:solidFill>
                <a:latin typeface="Malgun Gothic"/>
              </a:rPr>
              <a:t>벽 충돌</a:t>
            </a:r>
          </a:p>
          <a:p>
            <a:pPr algn="ctr"/>
            <a:r>
              <a:rPr sz="900">
                <a:solidFill>
                  <a:srgbClr val="A0A0A8"/>
                </a:solidFill>
                <a:latin typeface="Malgun Gothic"/>
              </a:rPr>
              <a:t>충격 방향 벡터 발생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35624" y="1828800"/>
            <a:ext cx="1798320" cy="1463040"/>
          </a:xfrm>
          <a:prstGeom prst="roundRect">
            <a:avLst/>
          </a:prstGeom>
          <a:solidFill>
            <a:srgbClr val="33333A"/>
          </a:solidFill>
          <a:ln w="1270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50800" rIns="50800"/>
          <a:lstStyle/>
          <a:p>
            <a:pPr algn="ctr"/>
            <a:r>
              <a:rPr sz="2000" b="1">
                <a:solidFill>
                  <a:srgbClr val="E10600"/>
                </a:solidFill>
                <a:latin typeface="Malgun Gothic"/>
              </a:rPr>
              <a:t>4</a:t>
            </a:r>
          </a:p>
          <a:p>
            <a:pPr algn="ctr"/>
            <a:r>
              <a:rPr sz="1100" b="1">
                <a:solidFill>
                  <a:srgbClr val="F0F0F0"/>
                </a:solidFill>
                <a:latin typeface="Malgun Gothic"/>
              </a:rPr>
              <a:t>Raycast → UV</a:t>
            </a:r>
          </a:p>
          <a:p>
            <a:pPr algn="ctr"/>
            <a:r>
              <a:rPr sz="900">
                <a:solidFill>
                  <a:srgbClr val="A0A0A8"/>
                </a:solidFill>
                <a:latin typeface="Malgun Gothic"/>
              </a:rPr>
              <a:t>화물 표면 충격 지점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3672" y="1828800"/>
            <a:ext cx="1798320" cy="1463040"/>
          </a:xfrm>
          <a:prstGeom prst="roundRect">
            <a:avLst/>
          </a:prstGeom>
          <a:solidFill>
            <a:srgbClr val="33333A"/>
          </a:solidFill>
          <a:ln w="1270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50800" rIns="50800"/>
          <a:lstStyle/>
          <a:p>
            <a:pPr algn="ctr"/>
            <a:r>
              <a:rPr sz="2000" b="1">
                <a:solidFill>
                  <a:srgbClr val="E10600"/>
                </a:solidFill>
                <a:latin typeface="Malgun Gothic"/>
              </a:rPr>
              <a:t>5</a:t>
            </a:r>
          </a:p>
          <a:p>
            <a:pPr algn="ctr"/>
            <a:r>
              <a:rPr sz="1100" b="1">
                <a:solidFill>
                  <a:srgbClr val="F0F0F0"/>
                </a:solidFill>
                <a:latin typeface="Malgun Gothic"/>
              </a:rPr>
              <a:t>Wrap 상태 조회</a:t>
            </a:r>
          </a:p>
          <a:p>
            <a:pPr algn="ctr"/>
            <a:r>
              <a:rPr sz="900">
                <a:solidFill>
                  <a:srgbClr val="A0A0A8"/>
                </a:solidFill>
                <a:latin typeface="Malgun Gothic"/>
              </a:rPr>
              <a:t>그 지점 주변 평균 재료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51720" y="1828800"/>
            <a:ext cx="1798320" cy="1463040"/>
          </a:xfrm>
          <a:prstGeom prst="roundRect">
            <a:avLst/>
          </a:prstGeom>
          <a:solidFill>
            <a:srgbClr val="33333A"/>
          </a:solidFill>
          <a:ln w="12700">
            <a:solidFill>
              <a:srgbClr val="E10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 bIns="76200" lIns="50800" rIns="50800"/>
          <a:lstStyle/>
          <a:p>
            <a:pPr algn="ctr"/>
            <a:r>
              <a:rPr sz="2000" b="1">
                <a:solidFill>
                  <a:srgbClr val="E10600"/>
                </a:solidFill>
                <a:latin typeface="Malgun Gothic"/>
              </a:rPr>
              <a:t>6</a:t>
            </a:r>
          </a:p>
          <a:p>
            <a:pPr algn="ctr"/>
            <a:r>
              <a:rPr sz="1100" b="1">
                <a:solidFill>
                  <a:srgbClr val="F0F0F0"/>
                </a:solidFill>
                <a:latin typeface="Malgun Gothic"/>
              </a:rPr>
              <a:t>흡수율 적용</a:t>
            </a:r>
          </a:p>
          <a:p>
            <a:pPr algn="ctr"/>
            <a:r>
              <a:rPr sz="900">
                <a:solidFill>
                  <a:srgbClr val="A0A0A8"/>
                </a:solidFill>
                <a:latin typeface="Malgun Gothic"/>
              </a:rPr>
              <a:t>1 − 흡수율 = 손상량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1115568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800" b="1">
                <a:solidFill>
                  <a:srgbClr val="E10600"/>
                </a:solidFill>
                <a:latin typeface="Malgun Gothic"/>
              </a:rPr>
              <a:t>핵심 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34840"/>
            <a:ext cx="11155680" cy="22860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Malgun Gothic"/>
              </a:rPr>
              <a:t>완료 조건 없음 — 0%도 100%도 자유. 포장 정도 = 손상 차단율.</a:t>
            </a:r>
          </a:p>
          <a:p>
            <a:pPr algn="l"/>
            <a:r>
              <a:rPr sz="1400" b="0">
                <a:solidFill>
                  <a:srgbClr val="F0F0F0"/>
                </a:solidFill>
                <a:latin typeface="Malgun Gothic"/>
              </a:rPr>
              <a:t>덧칠 시 최상위 재료만 흡수율 적용 (아래 비용은 손실).</a:t>
            </a:r>
          </a:p>
          <a:p>
            <a:pPr algn="l"/>
            <a:r>
              <a:rPr sz="1400" b="0">
                <a:solidFill>
                  <a:srgbClr val="F0F0F0"/>
                </a:solidFill>
                <a:latin typeface="Malgun Gothic"/>
              </a:rPr>
              <a:t>화물에 부착된 RenderTexture (256×256, RGB 채널 = 재료별) 가 wrap 상태 저장.</a:t>
            </a:r>
          </a:p>
          <a:p>
            <a:pPr algn="l"/>
            <a:r>
              <a:rPr sz="1400" b="0">
                <a:solidFill>
                  <a:srgbClr val="F0F0F0"/>
                </a:solidFill>
                <a:latin typeface="Malgun Gothic"/>
              </a:rPr>
              <a:t>충격 지점 raycast 실패 시 fallback: 충격 방향과 가장 일치하는 표면 normal 영역.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00800"/>
            <a:ext cx="73152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A0A0A8"/>
                </a:solidFill>
                <a:latin typeface="Malgun Gothic"/>
              </a:rPr>
              <a:t>Damage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00800"/>
            <a:ext cx="9144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400" b="0">
                <a:solidFill>
                  <a:srgbClr val="A0A0A8"/>
                </a:solidFill>
                <a:latin typeface="Malgun Gothic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37160" cy="502920"/>
          </a:xfrm>
          <a:prstGeom prst="rect">
            <a:avLst/>
          </a:prstGeom>
          <a:solidFill>
            <a:srgbClr val="E1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10972800" cy="64008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3200" b="1">
                <a:solidFill>
                  <a:srgbClr val="F0F0F0"/>
                </a:solidFill>
                <a:latin typeface="Malgun Gothic"/>
              </a:rPr>
              <a:t>작업량 추정 &amp; 다음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87552"/>
            <a:ext cx="10972800" cy="36576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600" b="0">
                <a:solidFill>
                  <a:srgbClr val="A0A0A8"/>
                </a:solidFill>
                <a:latin typeface="Malgun Gothic"/>
              </a:rPr>
              <a:t>단독 추정 약 9일 (1.8주)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6858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429000"/>
              </a:tblGrid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작업 단위</a:t>
                      </a:r>
                    </a:p>
                  </a:txBody>
                  <a:tcPr>
                    <a:solidFill>
                      <a:srgbClr val="E106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</a:rPr>
                        <a:t>추정</a:t>
                      </a:r>
                    </a:p>
                  </a:txBody>
                  <a:tcPr>
                    <a:solidFill>
                      <a:srgbClr val="E10600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WrapMaterialDef SO + 3종 자산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0.3일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WrapState + RenderTexture 페인트 셰이더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2일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PackingScreen UGUI (작업대 + 사이드)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2일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비용 / 평균 커버 실시간 표시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0.5일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잡 보드 → 포장 화면 전환 로직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0.5일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물건 1~3개 탭 전환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0.5일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CargoShakeSimulator wrap 흡수율 통합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1일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기존 PackingDef 제거 + 참조 정리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0.5일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폴리시 (사운드, hover, 시각)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1.5일</a:t>
                      </a:r>
                    </a:p>
                  </a:txBody>
                  <a:tcPr>
                    <a:solidFill>
                      <a:srgbClr val="141418"/>
                    </a:solidFill>
                  </a:tcPr>
                </a:tc>
              </a:tr>
              <a:tr h="3740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합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0F0F0"/>
                          </a:solidFill>
                          <a:latin typeface="Malgun Gothic"/>
                        </a:rPr>
                        <a:t>약 9일</a:t>
                      </a:r>
                    </a:p>
                  </a:txBody>
                  <a:tcPr>
                    <a:solidFill>
                      <a:srgbClr val="33333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0" y="1828800"/>
            <a:ext cx="411480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800" b="1">
                <a:solidFill>
                  <a:srgbClr val="E10600"/>
                </a:solidFill>
                <a:latin typeface="Malgun Gothic"/>
              </a:rPr>
              <a:t>위험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2286000"/>
            <a:ext cx="4114800" cy="22860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200" b="0">
                <a:solidFill>
                  <a:srgbClr val="F0F0F0"/>
                </a:solidFill>
                <a:latin typeface="Malgun Gothic"/>
              </a:rPr>
              <a:t>Texture painting 셰이더 슬립</a:t>
            </a:r>
          </a:p>
          <a:p>
            <a:pPr algn="l"/>
            <a:r>
              <a:rPr sz="1200" b="0">
                <a:solidFill>
                  <a:srgbClr val="F0F0F0"/>
                </a:solidFill>
                <a:latin typeface="Malgun Gothic"/>
              </a:rPr>
              <a:t>→ day 3 fallback 결정 포인트</a:t>
            </a:r>
          </a:p>
          <a:p>
            <a:pPr algn="l"/>
            <a:r>
              <a:rPr sz="1200" b="0">
                <a:solidFill>
                  <a:srgbClr val="F0F0F0"/>
                </a:solidFill>
                <a:latin typeface="Malgun Gothic"/>
              </a:rPr>
              <a:t>→ mesh face 단위 (6면 / 12면)</a:t>
            </a:r>
          </a:p>
          <a:p>
            <a:pPr algn="l"/>
            <a:r>
              <a:rPr sz="1200" b="0">
                <a:solidFill>
                  <a:srgbClr val="F0F0F0"/>
                </a:solidFill>
                <a:latin typeface="Malgun Gothic"/>
              </a:rPr>
              <a:t/>
            </a:r>
          </a:p>
          <a:p>
            <a:pPr algn="l"/>
            <a:r>
              <a:rPr sz="1200" b="0">
                <a:solidFill>
                  <a:srgbClr val="F0F0F0"/>
                </a:solidFill>
                <a:latin typeface="Malgun Gothic"/>
              </a:rPr>
              <a:t>충격 → UV 매핑 정확도</a:t>
            </a:r>
          </a:p>
          <a:p>
            <a:pPr algn="l"/>
            <a:r>
              <a:rPr sz="1200" b="0">
                <a:solidFill>
                  <a:srgbClr val="F0F0F0"/>
                </a:solidFill>
                <a:latin typeface="Malgun Gothic"/>
              </a:rPr>
              <a:t>→ normal 일치 fallback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4297680"/>
            <a:ext cx="4114800" cy="4572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800" b="1">
                <a:solidFill>
                  <a:srgbClr val="E10600"/>
                </a:solidFill>
                <a:latin typeface="Malgun Gothic"/>
              </a:rPr>
              <a:t>다음 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54880"/>
            <a:ext cx="4114800" cy="182880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300" b="0">
                <a:solidFill>
                  <a:srgbClr val="F0F0F0"/>
                </a:solidFill>
                <a:latin typeface="Malgun Gothic"/>
              </a:rPr>
              <a:t>1. 본 덱 검토 → 도현 승인</a:t>
            </a:r>
          </a:p>
          <a:p>
            <a:pPr algn="l"/>
            <a:r>
              <a:rPr sz="1300" b="0">
                <a:solidFill>
                  <a:srgbClr val="F0F0F0"/>
                </a:solidFill>
                <a:latin typeface="Malgun Gothic"/>
              </a:rPr>
              <a:t>2. writing-plans 스킬로 구현 계획</a:t>
            </a:r>
          </a:p>
          <a:p>
            <a:pPr algn="l"/>
            <a:r>
              <a:rPr sz="1300" b="0">
                <a:solidFill>
                  <a:srgbClr val="F0F0F0"/>
                </a:solidFill>
                <a:latin typeface="Malgun Gothic"/>
              </a:rPr>
              <a:t>3. unity-cli로 단계별 검증</a:t>
            </a:r>
          </a:p>
          <a:p>
            <a:pPr algn="l"/>
            <a:r>
              <a:rPr sz="1300" b="0">
                <a:solidFill>
                  <a:srgbClr val="F0F0F0"/>
                </a:solidFill>
                <a:latin typeface="Malgun Gothic"/>
              </a:rPr>
              <a:t>4. 차고/부품 시스템 별도 결정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00800"/>
            <a:ext cx="73152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/>
            <a:r>
              <a:rPr sz="1400" b="0">
                <a:solidFill>
                  <a:srgbClr val="A0A0A8"/>
                </a:solidFill>
                <a:latin typeface="Malgun Gothic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00800"/>
            <a:ext cx="914400" cy="274320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r"/>
            <a:r>
              <a:rPr sz="1400" b="0">
                <a:solidFill>
                  <a:srgbClr val="A0A0A8"/>
                </a:solidFill>
                <a:latin typeface="Malgun Gothic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