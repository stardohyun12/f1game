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0"/>
            <a:ext cx="10972800" cy="10972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8000" b="1">
                <a:solidFill>
                  <a:srgbClr val="F0F0F0"/>
                </a:solidFill>
                <a:latin typeface="Malgun Gothic"/>
              </a:rPr>
              <a:t>PIT 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3832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200" b="0">
                <a:solidFill>
                  <a:srgbClr val="A0A0A8"/>
                </a:solidFill>
                <a:latin typeface="Malgun Gothic"/>
              </a:rPr>
              <a:t>망한 F1팀이 배달로 자금을 벌어 머신을 복원하고 그랑프리에 복귀한다.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114800"/>
            <a:ext cx="10972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A0A0A8"/>
                </a:solidFill>
                <a:latin typeface="Malgun Gothic"/>
              </a:rPr>
              <a:t>Arcade Racing × Delivery × Route Puzzle × Roguelite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0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Malgun Gothic"/>
              </a:rPr>
              <a:t>Game Design Document  ·  Solo Dev  ·  Unity 6 (URP)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Elevator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한 문장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155680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Malgun Gothic"/>
              </a:rPr>
              <a:t>망한 F1팀이 배달로 자금을 벌어 머신을 복원하고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11155680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600" b="1">
                <a:solidFill>
                  <a:srgbClr val="E10600"/>
                </a:solidFill>
                <a:latin typeface="Malgun Gothic"/>
              </a:rPr>
              <a:t>F1 그랑프리에 복귀한다.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1155680" cy="18288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0">
                <a:solidFill>
                  <a:srgbClr val="A0A0A8"/>
                </a:solidFill>
                <a:latin typeface="Malgun Gothic"/>
              </a:rPr>
              <a:t>배달은 수단, F1 복귀가 목적.</a:t>
            </a:r>
          </a:p>
          <a:p>
            <a:pPr algn="l"/>
            <a:r>
              <a:rPr sz="1800" b="0">
                <a:solidFill>
                  <a:srgbClr val="A0A0A8"/>
                </a:solidFill>
                <a:latin typeface="Malgun Gothic"/>
              </a:rPr>
              <a:t>드라이버는 당신, 엔지니어도 당신, 전략가도 당신.</a:t>
            </a:r>
          </a:p>
          <a:p>
            <a:pPr algn="l"/>
            <a:r>
              <a:rPr sz="1800" b="0">
                <a:solidFill>
                  <a:srgbClr val="A0A0A8"/>
                </a:solidFill>
                <a:latin typeface="Malgun Gothic"/>
              </a:rPr>
              <a:t/>
            </a:r>
          </a:p>
          <a:p>
            <a:pPr algn="l"/>
            <a:r>
              <a:rPr sz="1800" b="0">
                <a:solidFill>
                  <a:srgbClr val="A0A0A8"/>
                </a:solidFill>
                <a:latin typeface="Malgun Gothic"/>
              </a:rPr>
              <a:t>마이크로 루프(한 런 5~15분) ↔ 매크로 루프(머신 복원) 직각 관계.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Gameplay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Unity 6 / Kenny 도시 에셋 / 톱다운 운전</a:t>
            </a:r>
          </a:p>
        </p:txBody>
      </p:sp>
      <p:pic>
        <p:nvPicPr>
          <p:cNvPr id="5" name="Picture 4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812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554480"/>
            <a:ext cx="4114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E10600"/>
                </a:solidFill>
                <a:latin typeface="Malgun Gothic"/>
              </a:rPr>
              <a:t>현재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4114800" cy="41148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현재 빌드 (D-39, 2026-05-16)</a:t>
            </a:r>
          </a:p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• OpenWorld_v2 — 도시 1, 8 배달지, 3 zone (다운타운/항구/공업)</a:t>
            </a:r>
          </a:p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• 잡 풀 11개 — 다운타운 enrich 완료</a:t>
            </a:r>
          </a:p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• 다물건 트렁크 (1~3 큐브 슬라이드/충돌/손상)</a:t>
            </a:r>
          </a:p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• 3D 포장 (Bubble/Foam/Hardcase) + 다물건 ◀▶ 전환</a:t>
            </a:r>
          </a:p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• 경로 계획 화면 + 미니맵 + 방향 화살표</a:t>
            </a:r>
          </a:p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• 다물건 정산 (N건 합산 보상)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Core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한 런 5~15분 · 핵심 결정 4개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286000"/>
            <a:ext cx="1502228" cy="1280160"/>
          </a:xfrm>
          <a:prstGeom prst="roundRect">
            <a:avLst/>
          </a:prstGeom>
          <a:solidFill>
            <a:srgbClr val="33333A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주문 보드</a:t>
            </a:r>
          </a:p>
          <a:p>
            <a:pPr algn="ctr"/>
            <a:r>
              <a:rPr sz="900">
                <a:solidFill>
                  <a:srgbClr val="A0A0A8"/>
                </a:solidFill>
                <a:latin typeface="Malgun Gothic"/>
              </a:rPr>
              <a:t>30초</a:t>
            </a:r>
          </a:p>
          <a:p>
            <a:pPr algn="ctr"/>
            <a:r>
              <a:rPr sz="900" b="1">
                <a:solidFill>
                  <a:srgbClr val="E10600"/>
                </a:solidFill>
                <a:latin typeface="Malgun Gothic"/>
              </a:rPr>
              <a:t>결정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0868" y="2286000"/>
            <a:ext cx="1502228" cy="1280160"/>
          </a:xfrm>
          <a:prstGeom prst="roundRect">
            <a:avLst/>
          </a:prstGeom>
          <a:solidFill>
            <a:srgbClr val="141418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포장 결정</a:t>
            </a:r>
          </a:p>
          <a:p>
            <a:pPr algn="ctr"/>
            <a:r>
              <a:rPr sz="900">
                <a:solidFill>
                  <a:srgbClr val="A0A0A8"/>
                </a:solidFill>
                <a:latin typeface="Malgun Gothic"/>
              </a:rPr>
              <a:t>1분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90256" y="2286000"/>
            <a:ext cx="1502228" cy="1280160"/>
          </a:xfrm>
          <a:prstGeom prst="roundRect">
            <a:avLst/>
          </a:prstGeom>
          <a:solidFill>
            <a:srgbClr val="33333A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경로 계획</a:t>
            </a:r>
          </a:p>
          <a:p>
            <a:pPr algn="ctr"/>
            <a:r>
              <a:rPr sz="900">
                <a:solidFill>
                  <a:srgbClr val="A0A0A8"/>
                </a:solidFill>
                <a:latin typeface="Malgun Gothic"/>
              </a:rPr>
              <a:t>1~2분</a:t>
            </a:r>
          </a:p>
          <a:p>
            <a:pPr algn="ctr"/>
            <a:r>
              <a:rPr sz="900" b="1">
                <a:solidFill>
                  <a:srgbClr val="E10600"/>
                </a:solidFill>
                <a:latin typeface="Malgun Gothic"/>
              </a:rPr>
              <a:t>결정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29644" y="2286000"/>
            <a:ext cx="1502228" cy="1280160"/>
          </a:xfrm>
          <a:prstGeom prst="roundRect">
            <a:avLst/>
          </a:prstGeom>
          <a:solidFill>
            <a:srgbClr val="33333A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트렁크 배치</a:t>
            </a:r>
          </a:p>
          <a:p>
            <a:pPr algn="ctr"/>
            <a:r>
              <a:rPr sz="900">
                <a:solidFill>
                  <a:srgbClr val="A0A0A8"/>
                </a:solidFill>
                <a:latin typeface="Malgun Gothic"/>
              </a:rPr>
              <a:t>30초</a:t>
            </a:r>
          </a:p>
          <a:p>
            <a:pPr algn="ctr"/>
            <a:r>
              <a:rPr sz="900" b="1">
                <a:solidFill>
                  <a:srgbClr val="E10600"/>
                </a:solidFill>
                <a:latin typeface="Malgun Gothic"/>
              </a:rPr>
              <a:t>결정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9032" y="2286000"/>
            <a:ext cx="1502228" cy="1280160"/>
          </a:xfrm>
          <a:prstGeom prst="roundRect">
            <a:avLst/>
          </a:prstGeom>
          <a:solidFill>
            <a:srgbClr val="141418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주행</a:t>
            </a:r>
          </a:p>
          <a:p>
            <a:pPr algn="ctr"/>
            <a:r>
              <a:rPr sz="900">
                <a:solidFill>
                  <a:srgbClr val="A0A0A8"/>
                </a:solidFill>
                <a:latin typeface="Malgun Gothic"/>
              </a:rPr>
              <a:t>5~8분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08420" y="2286000"/>
            <a:ext cx="1502228" cy="1280160"/>
          </a:xfrm>
          <a:prstGeom prst="roundRect">
            <a:avLst/>
          </a:prstGeom>
          <a:solidFill>
            <a:srgbClr val="141418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정산</a:t>
            </a:r>
          </a:p>
          <a:p>
            <a:pPr algn="ctr"/>
            <a:r>
              <a:rPr sz="900">
                <a:solidFill>
                  <a:srgbClr val="A0A0A8"/>
                </a:solidFill>
                <a:latin typeface="Malgun Gothic"/>
              </a:rPr>
              <a:t>30초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7808" y="2286000"/>
            <a:ext cx="1502228" cy="1280160"/>
          </a:xfrm>
          <a:prstGeom prst="roundRect">
            <a:avLst/>
          </a:prstGeom>
          <a:solidFill>
            <a:srgbClr val="33333A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차고 / F1 부품 복원</a:t>
            </a:r>
          </a:p>
          <a:p>
            <a:pPr algn="ctr"/>
            <a:r>
              <a:rPr sz="900">
                <a:solidFill>
                  <a:srgbClr val="A0A0A8"/>
                </a:solidFill>
                <a:latin typeface="Malgun Gothic"/>
              </a:rPr>
              <a:t>1분</a:t>
            </a:r>
          </a:p>
          <a:p>
            <a:pPr algn="ctr"/>
            <a:r>
              <a:rPr sz="900" b="1">
                <a:solidFill>
                  <a:srgbClr val="E10600"/>
                </a:solidFill>
                <a:latin typeface="Malgun Gothic"/>
              </a:rPr>
              <a:t>결정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11155680" cy="18288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Malgun Gothic"/>
              </a:rPr>
              <a:t>→ 한 런에서 핵심 결정 4개. 너무 적으면 지루, 너무 많으면 과부하.</a:t>
            </a:r>
          </a:p>
          <a:p>
            <a:pPr algn="l"/>
            <a:r>
              <a:rPr sz="1600" b="0">
                <a:solidFill>
                  <a:srgbClr val="F0F0F0"/>
                </a:solidFill>
                <a:latin typeface="Malgun Gothic"/>
              </a:rPr>
              <a:t>→ 5~15분 = 카페 한 잔/출퇴근 시간. EDC·Pacific Drive(90분+)와 차별.</a:t>
            </a:r>
          </a:p>
          <a:p>
            <a:pPr algn="l"/>
            <a:r>
              <a:rPr sz="1600" b="0">
                <a:solidFill>
                  <a:srgbClr val="F0F0F0"/>
                </a:solidFill>
                <a:latin typeface="Malgun Gothic"/>
              </a:rPr>
              <a:t>→ 런 = 통화 획득, 복원 = 서사 진행. 두 루프가 직각.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USP — 차별점 4가지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매 시스템 결정은 이 4가지 중 하나 이상을 강화해야 채택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E10600"/>
                </a:solidFill>
                <a:latin typeface="Malgun Gothic"/>
              </a:rPr>
              <a:t>■ </a:t>
            </a:r>
            <a:r>
              <a:rPr sz="2200">
                <a:solidFill>
                  <a:srgbClr val="F0F0F0"/>
                </a:solidFill>
                <a:latin typeface="Malgun Gothic"/>
              </a:rPr>
              <a:t>압축 폼팩터 — 5~15분 한 런 = 카페 한 잔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E10600"/>
                </a:solidFill>
                <a:latin typeface="Malgun Gothic"/>
              </a:rPr>
              <a:t>■ </a:t>
            </a:r>
            <a:r>
              <a:rPr sz="2200">
                <a:solidFill>
                  <a:srgbClr val="F0F0F0"/>
                </a:solidFill>
                <a:latin typeface="Malgun Gothic"/>
              </a:rPr>
              <a:t>결정 밀도 — 한 런에 핵심 결정 4개 (주문/경로/세팅/업그레이드)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E10600"/>
                </a:solidFill>
                <a:latin typeface="Malgun Gothic"/>
              </a:rPr>
              <a:t>■ </a:t>
            </a:r>
            <a:r>
              <a:rPr sz="2200">
                <a:solidFill>
                  <a:srgbClr val="F0F0F0"/>
                </a:solidFill>
                <a:latin typeface="Malgun Gothic"/>
              </a:rPr>
              <a:t>운전감 — Burnout급 아케이드 드리프트 + 시각적 즉각 피드백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E10600"/>
                </a:solidFill>
                <a:latin typeface="Malgun Gothic"/>
              </a:rPr>
              <a:t>■ </a:t>
            </a:r>
            <a:r>
              <a:rPr sz="2200">
                <a:solidFill>
                  <a:srgbClr val="F0F0F0"/>
                </a:solidFill>
                <a:latin typeface="Malgun Gothic"/>
              </a:rPr>
              <a:t>로그라이트 정산 — 업그레이드가 다음 런 감각을 바꿈 (단방향 진보 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강화 안 하는 시스템은 ideas-parking 직행.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USP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시장 빈 칸 (Comparables)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왜 이 조합인가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33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게임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런 길이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결정/런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정산 → 다음 런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Easy Delivery Co.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무제한 (총 5h)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낮음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단방향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Crazy Taxi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라운드 짧음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Burnout Paradise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이벤트 짧음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차량 잠금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Pacific Drive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90분+ 런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로그라이트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PIT CREW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5~15분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로그라이트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1">
                <a:solidFill>
                  <a:srgbClr val="E10600"/>
                </a:solidFill>
                <a:latin typeface="Malgun Gothic"/>
              </a:rPr>
              <a:t>위 4 게임 어느 것도 「5~15분 + 결정 밀도 + 로그라이트 + 운전감」을 동시에 만족하지 못함.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결정 채널 9 — 플레이어가 시간을 들여 조절하는 dial 9개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69164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채널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스코프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속도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최고 속도 캡 + 가속/브레이크 곡선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MVP 부분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맵 접근도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도시·지역 해금 → 잡 거리 풀 확장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MVP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배송물자 종류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5종 화물 (Eggs/Glass/Cake/...)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MVP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보관박스 크기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적재 가능 수량 cap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MVP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포장 (랩핑)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4단계 (None/Bubble/Foam/Hardcase)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MVP 통합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F1 복원 트리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망가진 머신 부품 복원 — 서사 진행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MVP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지도/내비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GPS·이정표 해금 → 길찾기 부하 ↓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MVP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9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연료탱크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한 런 스테미나 (스타듀밸리 비유)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MVP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300" b="0">
                <a:solidFill>
                  <a:srgbClr val="A0A0A8"/>
                </a:solidFill>
                <a:latin typeface="Malgun Gothic"/>
              </a:rPr>
              <a:t>+ #2 외형 (Phase 3+) — 9채널 모두 dial 형태로 메타 진행 축 형성.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Genre × 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쿨하고 스타일리시 + 박살내는 카타르시스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Malgun Gothic"/>
              </a:rPr>
              <a:t>장르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0972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Malgun Gothic"/>
              </a:rPr>
              <a:t>Arcade Racing × Delivery × Route Optimization Puzzle × Roguelite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Malgun Gothic"/>
              </a:rPr>
              <a:t>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972800" cy="13716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Malgun Gothic"/>
              </a:rPr>
              <a:t>F1의 진지함과 「피자 배달」의 코믹한 갭이 게임의 매력.</a:t>
            </a:r>
          </a:p>
          <a:p>
            <a:pPr algn="l"/>
            <a:r>
              <a:rPr sz="1600" b="0">
                <a:solidFill>
                  <a:srgbClr val="F0F0F0"/>
                </a:solidFill>
                <a:latin typeface="Malgun Gothic"/>
              </a:rPr>
              <a:t>Kenny 에셋의 귀여운 로우폴리 미학 ↔ F1 브로드캐스트 UI 스타일의 대비.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Malgun Gothic"/>
              </a:rPr>
              <a:t>Pillars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0972800" cy="13716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Malgun Gothic"/>
              </a:rPr>
              <a:t>① 운전 자체가 재밌어야 한다</a:t>
            </a:r>
          </a:p>
          <a:p>
            <a:pPr algn="l"/>
            <a:r>
              <a:rPr sz="1600" b="0">
                <a:solidFill>
                  <a:srgbClr val="F0F0F0"/>
                </a:solidFill>
                <a:latin typeface="Malgun Gothic"/>
              </a:rPr>
              <a:t>② 매 런 결정이 의미를 가져야 한다</a:t>
            </a:r>
          </a:p>
          <a:p>
            <a:pPr algn="l"/>
            <a:r>
              <a:rPr sz="1600" b="0">
                <a:solidFill>
                  <a:srgbClr val="F0F0F0"/>
                </a:solidFill>
                <a:latin typeface="Malgun Gothic"/>
              </a:rPr>
              <a:t>③ 시각 폴리시는 4주차 이후 (스코프 보호)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Player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한 런 동안 플레이어가 느껴야 할 6단계 감정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13716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800" b="1">
                <a:solidFill>
                  <a:srgbClr val="F0F0F0"/>
                </a:solidFill>
                <a:latin typeface="Malgun Gothic"/>
              </a:rPr>
              <a:t>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28800"/>
            <a:ext cx="59436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“어떤 순서로 돌까, 뭘 받을까”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28800"/>
            <a:ext cx="32004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1">
                <a:solidFill>
                  <a:srgbClr val="E10600"/>
                </a:solidFill>
                <a:latin typeface="Malgun Gothic"/>
              </a:rPr>
              <a:t>머리 쓰는 만족감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42032"/>
            <a:ext cx="548640" cy="548640"/>
          </a:xfrm>
          <a:prstGeom prst="ellipse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42032"/>
            <a:ext cx="13716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800" b="1">
                <a:solidFill>
                  <a:srgbClr val="F0F0F0"/>
                </a:solidFill>
                <a:latin typeface="Malgun Gothic"/>
              </a:rPr>
              <a:t>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42032"/>
            <a:ext cx="59436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“가자”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542032"/>
            <a:ext cx="32004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1">
                <a:solidFill>
                  <a:srgbClr val="E10600"/>
                </a:solidFill>
                <a:latin typeface="Malgun Gothic"/>
              </a:rPr>
              <a:t>몰입 진입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55264"/>
            <a:ext cx="548640" cy="548640"/>
          </a:xfrm>
          <a:prstGeom prst="ellipse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55264"/>
            <a:ext cx="13716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800" b="1">
                <a:solidFill>
                  <a:srgbClr val="F0F0F0"/>
                </a:solidFill>
                <a:latin typeface="Malgun Gothic"/>
              </a:rPr>
              <a:t>주행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55264"/>
            <a:ext cx="59436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“빠르게 가고 싶은데 박스가 걱정”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255264"/>
            <a:ext cx="32004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1">
                <a:solidFill>
                  <a:srgbClr val="E10600"/>
                </a:solidFill>
                <a:latin typeface="Malgun Gothic"/>
              </a:rPr>
              <a:t>긴장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68496"/>
            <a:ext cx="548640" cy="548640"/>
          </a:xfrm>
          <a:prstGeom prst="ellipse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68496"/>
            <a:ext cx="13716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800" b="1">
                <a:solidFill>
                  <a:srgbClr val="F0F0F0"/>
                </a:solidFill>
                <a:latin typeface="Malgun Gothic"/>
              </a:rPr>
              <a:t>코너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68496"/>
            <a:ext cx="59436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“속도 줄여야 하나 말아야 하나”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968496"/>
            <a:ext cx="32004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1">
                <a:solidFill>
                  <a:srgbClr val="E10600"/>
                </a:solidFill>
                <a:latin typeface="Malgun Gothic"/>
              </a:rPr>
              <a:t>실시간 판단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81728"/>
            <a:ext cx="548640" cy="548640"/>
          </a:xfrm>
          <a:prstGeom prst="ellipse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81728"/>
            <a:ext cx="13716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800" b="1">
                <a:solidFill>
                  <a:srgbClr val="F0F0F0"/>
                </a:solidFill>
                <a:latin typeface="Malgun Gothic"/>
              </a:rPr>
              <a:t>피트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681728"/>
            <a:ext cx="59436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“지금 들어갈까 한 바퀴 더 돌까”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681728"/>
            <a:ext cx="32004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1">
                <a:solidFill>
                  <a:srgbClr val="E10600"/>
                </a:solidFill>
                <a:latin typeface="Malgun Gothic"/>
              </a:rPr>
              <a:t>자원 관리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394960"/>
            <a:ext cx="548640" cy="548640"/>
          </a:xfrm>
          <a:prstGeom prst="ellipse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94960"/>
            <a:ext cx="13716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800" b="1">
                <a:solidFill>
                  <a:srgbClr val="F0F0F0"/>
                </a:solidFill>
                <a:latin typeface="Malgun Gothic"/>
              </a:rPr>
              <a:t>완주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394960"/>
            <a:ext cx="59436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“내 계획이 통했다 / 실패했다”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394960"/>
            <a:ext cx="3200400" cy="54864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1">
                <a:solidFill>
                  <a:srgbClr val="E10600"/>
                </a:solidFill>
                <a:latin typeface="Malgun Gothic"/>
              </a:rPr>
              <a:t>성취 혹은 재도전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Scope /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Vertical Slice 데모 6주 (D-Day 2026-06-24) — 완성 가능 범위로 고정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217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주차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검증 질문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산출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1주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차 모는 것 자체가 재밌는가?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ArcadeCarController + 트랙 1개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2주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화물 관리가 긴장감을 주는가?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CargoBox + 박스 시뮬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3주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경로 계획이 의미 있는가?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주문 보드 + 경로 플래너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4주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5~15분 한 런이 실제로 굴러가는가?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정산 + 업그레이드 + F1 복원 트리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E10600"/>
                </a:solidFill>
                <a:latin typeface="Malgun Gothic"/>
              </a:rPr>
              <a:t>데모 콘텐츠 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0972800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화물 5종 · 포장 4단계 · 배달지 8개 · 잡 11개 · 결정 채널 9 · 3 zone · F1 부품 6 골격 (데모 2 복원)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Tech /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E10600"/>
                </a:solidFill>
                <a:latin typeface="Malgun Gothic"/>
              </a:rPr>
              <a:t>엔진 / 렌더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5486400" cy="18288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Unity 6 (6000.3.9f1)</a:t>
            </a:r>
          </a:p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URP (Universal Render Pipeline)</a:t>
            </a:r>
          </a:p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Input System 패키지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E10600"/>
                </a:solidFill>
                <a:latin typeface="Malgun Gothic"/>
              </a:rPr>
              <a:t>에셋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5486400" cy="18288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Kenny 도시 키트 (라이센스 안전)</a:t>
            </a:r>
          </a:p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커스텀 모델링 0 — 제한이 곧 재미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E10600"/>
                </a:solidFill>
                <a:latin typeface="Malgun Gothic"/>
              </a:rPr>
              <a:t>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5486400" cy="22860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Composition Root + Service Locator (12 시스템)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Template Method (HUD 4종 통합 예정)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Modifier Chain (CargoBox stats)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Pub/Sub Audio Cue Bus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Data Lookup (TireTypePresets)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4864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E10600"/>
                </a:solidFill>
                <a:latin typeface="Malgun Gothic"/>
              </a:rPr>
              <a:t>플랫폼 / 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5486400" cy="18288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PC (Windows) — Steam 1차 타깃</a:t>
            </a:r>
          </a:p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솔로 개발</a:t>
            </a:r>
          </a:p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Kenny 라이센스 안전 (CC0)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아키텍처 Phase 1~6 완료 / 7~9 남음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6576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2000" b="1">
                <a:solidFill>
                  <a:srgbClr val="E10600"/>
                </a:solidFill>
                <a:latin typeface="Malgun Gothic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828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1">
                <a:solidFill>
                  <a:srgbClr val="F0F0F0"/>
                </a:solidFill>
                <a:latin typeface="Malgun Gothic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28800"/>
            <a:ext cx="8686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DIP + Service Locator + Composition 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36576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2000" b="1">
                <a:solidFill>
                  <a:srgbClr val="E10600"/>
                </a:solidFill>
                <a:latin typeface="Malgun Gothic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1828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1">
                <a:solidFill>
                  <a:srgbClr val="F0F0F0"/>
                </a:solidFill>
                <a:latin typeface="Malgun Gothic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67712"/>
            <a:ext cx="8686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Template Method (Bar HUD 통합)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06624"/>
            <a:ext cx="36576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2000" b="1">
                <a:solidFill>
                  <a:srgbClr val="E10600"/>
                </a:solidFill>
                <a:latin typeface="Malgun Gothic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06624"/>
            <a:ext cx="1828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1">
                <a:solidFill>
                  <a:srgbClr val="F0F0F0"/>
                </a:solidFill>
                <a:latin typeface="Malgun Gothic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06624"/>
            <a:ext cx="8686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Modifier Chain (CargoBox stats)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45536"/>
            <a:ext cx="36576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2000" b="1">
                <a:solidFill>
                  <a:srgbClr val="E10600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45536"/>
            <a:ext cx="1828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1">
                <a:solidFill>
                  <a:srgbClr val="F0F0F0"/>
                </a:solidFill>
                <a:latin typeface="Malgun Gothic"/>
              </a:rPr>
              <a:t>Phase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45536"/>
            <a:ext cx="8686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Audio Cue Bus (Pub/Sub Mediator)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84448"/>
            <a:ext cx="36576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2000" b="1">
                <a:solidFill>
                  <a:srgbClr val="E10600"/>
                </a:solidFill>
                <a:latin typeface="Malgun Gothic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84448"/>
            <a:ext cx="1828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1">
                <a:solidFill>
                  <a:srgbClr val="F0F0F0"/>
                </a:solidFill>
                <a:latin typeface="Malgun Gothic"/>
              </a:rPr>
              <a:t>Phase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584448"/>
            <a:ext cx="8686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Tire Type Presets (Data Lookup)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36576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2000" b="1">
                <a:solidFill>
                  <a:srgbClr val="E10600"/>
                </a:solidFill>
                <a:latin typeface="Malgun Gothic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23360"/>
            <a:ext cx="1828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1">
                <a:solidFill>
                  <a:srgbClr val="F0F0F0"/>
                </a:solidFill>
                <a:latin typeface="Malgun Gothic"/>
              </a:rPr>
              <a:t>Phase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023360"/>
            <a:ext cx="8686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Peer Review 자명 패치 6건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62272"/>
            <a:ext cx="36576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2000" b="1">
                <a:solidFill>
                  <a:srgbClr val="A0A0A8"/>
                </a:solidFill>
                <a:latin typeface="Malgun Gothic"/>
              </a:rPr>
              <a:t>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62272"/>
            <a:ext cx="1828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1">
                <a:solidFill>
                  <a:srgbClr val="A0A0A8"/>
                </a:solidFill>
                <a:latin typeface="Malgun Gothic"/>
              </a:rPr>
              <a:t>Phase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462272"/>
            <a:ext cx="8686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IRunController DTO + UpgradeSystem 싱글톤 제거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01184"/>
            <a:ext cx="36576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2000" b="1">
                <a:solidFill>
                  <a:srgbClr val="A0A0A8"/>
                </a:solidFill>
                <a:latin typeface="Malgun Gothic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01184"/>
            <a:ext cx="1828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1">
                <a:solidFill>
                  <a:srgbClr val="A0A0A8"/>
                </a:solidFill>
                <a:latin typeface="Malgun Gothic"/>
              </a:rPr>
              <a:t>Phase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901184"/>
            <a:ext cx="8686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ResultPanel MVP 분할 + RewardCalculator 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40096"/>
            <a:ext cx="36576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2000" b="1">
                <a:solidFill>
                  <a:srgbClr val="A0A0A8"/>
                </a:solidFill>
                <a:latin typeface="Malgun Gothic"/>
              </a:rP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340096"/>
            <a:ext cx="1828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1">
                <a:solidFill>
                  <a:srgbClr val="A0A0A8"/>
                </a:solidFill>
                <a:latin typeface="Malgun Gothic"/>
              </a:rPr>
              <a:t>Phase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340096"/>
            <a:ext cx="8686800" cy="438912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TextHUDBase — 4 HUD 통합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943600"/>
            <a:ext cx="11155680" cy="365760"/>
          </a:xfrm>
          <a:prstGeom prst="roundRect">
            <a:avLst/>
          </a:prstGeom>
          <a:solidFill>
            <a:srgbClr val="333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5943600"/>
            <a:ext cx="7437120" cy="365760"/>
          </a:xfrm>
          <a:prstGeom prst="round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Malgun Gothic"/>
              </a:rPr>
              <a:t>아키텍처 6/9 phase · 채널 1·3·4·5·6·8 데모 가능 · 채널 7 (F1 복원) W3 구현 예정 · D-39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결정 채널 9 × 구현 현황 (2026-05-16)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286000"/>
                <a:gridCol w="5943600"/>
                <a:gridCol w="237744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채널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현재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데모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ArcadeCarController + 타이어 4종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⚠ 손상 튜닝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외형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미구현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❌ 포기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맵 접근도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Zone 3개 + autoUnlock + 다운타운 11잡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✅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배송물자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5종 (Eggs/Glass/Cake/Fish/Wine 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🟡 비주얼 빚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보관박스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BoxCapacity 1~3, TrunkExpand, 다물건 트렁크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✅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포장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3D 포장 + 다물건 ◀▶ + 진행표시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✅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F1 부품 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UpgradeSystem만, 복원 트리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❌ W3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지도/내비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미니맵 + 화살표 + 경로계획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✅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연료 / 스테미나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FuelSystem 작동, 의미 약함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⚠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잔여 일정 — 5.5주 (D-Day 2026-06-24)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  <a:gridCol w="3108960"/>
              </a:tblGrid>
              <a:tr h="762000">
                <a:tc>
                  <a:txBody>
                    <a:bodyPr/>
                    <a:lstStyle/>
                    <a:p>
                      <a:r>
                        <a:rPr sz="1400" b="1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산출물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/>
                        <a:t>W3 (5/16~5/26)</a:t>
                      </a:r>
                    </a:p>
                    <a:p>
                      <a:r>
                        <a:rPr sz="1200"/>
                        <a:t>+보너스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brainstorm + spec + plan → 차고/부품 시스템 구현 (USP)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차고 화면, 부품 6 카테고리 골격, 데모 2개 복원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/>
                        <a:t>W4 (5/27~6/2)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정산→차고 자동 연결 + 데모 시나리오 3런 + 페이싱 튜닝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3런 시리즈 (단순/다물건/손상위험), 손상·슬라이드·연료 수치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/>
                        <a:t>W5a (6/3~6/9)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손맛 패키지 + 화물 비주얼 차별화 + 인트로 1컷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사운드 5~8개, 보상 floating, 화물별 머티리얼, 첫 런 가이드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/>
                        <a:t>W5b (6/10~6/16)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HUD anim, 메뉴, 추가 폴리시, 해상도 호환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데모 영상에 잘 나오는 화면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/>
                        <a:t>W6 (6/17~6/24)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QA + Steam 페이지 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스크린샷 5장, GIF 3개, 트레일러 30초, 페이지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